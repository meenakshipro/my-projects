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3"/>
    <p:sldId id="260" r:id="rId4"/>
    <p:sldId id="261" r:id="rId5"/>
    <p:sldId id="262" r:id="rId6"/>
    <p:sldId id="263" r:id="rId7"/>
    <p:sldId id="264" r:id="rId8"/>
    <p:sldId id="266" r:id="rId9"/>
    <p:sldId id="267" r:id="rId10"/>
    <p:sldId id="268" r:id="rId11"/>
    <p:sldId id="269" r:id="rId12"/>
    <p:sldId id="270" r:id="rId13"/>
    <p:sldId id="271" r:id="rId14"/>
    <p:sldId id="272" r:id="rId15"/>
    <p:sldId id="273" r:id="rId16"/>
    <p:sldId id="274" r:id="rId17"/>
    <p:sldId id="276" r:id="rId18"/>
    <p:sldId id="277" r:id="rId19"/>
    <p:sldId id="278" r:id="rId20"/>
    <p:sldId id="279" r:id="rId21"/>
    <p:sldId id="281" r:id="rId22"/>
    <p:sldId id="282" r:id="rId23"/>
    <p:sldId id="284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179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Rapido Project Teaching Deck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4AF0D782-A799-6F91-8350-CF9729301C3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rPr dirty="0"/>
              <a:t>Rapido gets many bookings every day.</a:t>
            </a:r>
          </a:p>
          <a:p>
            <a:pPr>
              <a:defRPr sz="2200"/>
            </a:pPr>
            <a:r>
              <a:rPr dirty="0"/>
              <a:t>Some rides get cancelled, some are delayed, and fares are hard to predict.</a:t>
            </a:r>
          </a:p>
          <a:p>
            <a:pPr>
              <a:defRPr sz="2200"/>
            </a:pPr>
            <a:r>
              <a:rPr dirty="0"/>
              <a:t>If we predict these early, operations can take action before problems happen.</a:t>
            </a:r>
          </a:p>
          <a:p>
            <a:pPr>
              <a:defRPr sz="2200"/>
            </a:pPr>
            <a:r>
              <a:rPr dirty="0"/>
              <a:t>Machine learning helps us convert past trip data into predictions.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Problems </a:t>
            </a:r>
            <a:r>
              <a:rPr dirty="0"/>
              <a:t>We Are Solving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rPr dirty="0"/>
              <a:t>Will this booking be completed, cancelled, or incomplete?</a:t>
            </a:r>
          </a:p>
          <a:p>
            <a:pPr>
              <a:defRPr sz="2200"/>
            </a:pPr>
            <a:r>
              <a:rPr dirty="0"/>
              <a:t>What fare should we expect before ride starts?</a:t>
            </a:r>
          </a:p>
          <a:p>
            <a:pPr>
              <a:defRPr sz="2200"/>
            </a:pPr>
            <a:r>
              <a:rPr dirty="0"/>
              <a:t>Is this customer likely to cancel?</a:t>
            </a:r>
          </a:p>
          <a:p>
            <a:pPr>
              <a:defRPr sz="2200"/>
            </a:pPr>
            <a:r>
              <a:rPr dirty="0"/>
              <a:t>Is this driver likely to cause delay or incomplete trip?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 ML Models In This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Model 1: Ride outcome prediction (multi-class classification)</a:t>
            </a:r>
          </a:p>
          <a:p>
            <a:pPr>
              <a:defRPr sz="2200"/>
            </a:pPr>
            <a:r>
              <a:t>Model 2: Fare prediction (regression)</a:t>
            </a:r>
          </a:p>
          <a:p>
            <a:pPr>
              <a:defRPr sz="2200"/>
            </a:pPr>
            <a:r>
              <a:t>Model 3: Customer cancellation risk (binary classification)</a:t>
            </a:r>
          </a:p>
          <a:p>
            <a:pPr>
              <a:defRPr sz="2200"/>
            </a:pPr>
            <a:r>
              <a:t>Model 4: Driver delay risk (binary classification)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t>Know your data before touching machine learning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Dataset Files And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bookings: core ride transactions and booking status</a:t>
            </a:r>
          </a:p>
          <a:p>
            <a:pPr>
              <a:defRPr sz="2200"/>
            </a:pPr>
            <a:r>
              <a:t>customers: customer profile and cancellation behavior</a:t>
            </a:r>
          </a:p>
          <a:p>
            <a:pPr>
              <a:defRPr sz="2200"/>
            </a:pPr>
            <a:r>
              <a:t>drivers: driver performance and delay history</a:t>
            </a:r>
          </a:p>
          <a:p>
            <a:pPr>
              <a:defRPr sz="2200"/>
            </a:pPr>
            <a:r>
              <a:t>location_demand: demand patterns by place and hour</a:t>
            </a:r>
          </a:p>
          <a:p>
            <a:pPr>
              <a:defRPr sz="2200"/>
            </a:pPr>
            <a:r>
              <a:t>time_features: day, weekend, season and peak indicators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Important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rPr dirty="0" err="1"/>
              <a:t>booking_status</a:t>
            </a:r>
            <a:r>
              <a:rPr dirty="0"/>
              <a:t> is the main ride outcome label.</a:t>
            </a:r>
          </a:p>
          <a:p>
            <a:pPr>
              <a:defRPr sz="2200"/>
            </a:pPr>
            <a:r>
              <a:rPr dirty="0" err="1"/>
              <a:t>booking_value</a:t>
            </a:r>
            <a:r>
              <a:rPr dirty="0"/>
              <a:t> is the fare amount we predict in regression.</a:t>
            </a:r>
          </a:p>
          <a:p>
            <a:pPr>
              <a:defRPr sz="2200"/>
            </a:pPr>
            <a:r>
              <a:rPr dirty="0" err="1"/>
              <a:t>hour_of_day</a:t>
            </a:r>
            <a:r>
              <a:rPr dirty="0"/>
              <a:t>, </a:t>
            </a:r>
            <a:r>
              <a:rPr dirty="0" err="1"/>
              <a:t>traffic_level</a:t>
            </a:r>
            <a:r>
              <a:rPr dirty="0"/>
              <a:t>, </a:t>
            </a:r>
            <a:r>
              <a:rPr dirty="0" err="1"/>
              <a:t>weather_condition</a:t>
            </a:r>
            <a:r>
              <a:rPr dirty="0"/>
              <a:t> influence demand and cancellation.</a:t>
            </a:r>
          </a:p>
          <a:p>
            <a:pPr>
              <a:defRPr sz="2200"/>
            </a:pPr>
            <a:r>
              <a:rPr dirty="0" err="1"/>
              <a:t>customer_cancel_flag</a:t>
            </a:r>
            <a:r>
              <a:rPr dirty="0"/>
              <a:t> and </a:t>
            </a:r>
            <a:r>
              <a:rPr dirty="0" err="1"/>
              <a:t>driver_delay_flag</a:t>
            </a:r>
            <a:r>
              <a:rPr dirty="0"/>
              <a:t> are risk labels.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t>Environment setup and project execution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1: Open The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rPr dirty="0"/>
              <a:t>Open VS Code.</a:t>
            </a:r>
          </a:p>
          <a:p>
            <a:pPr>
              <a:defRPr sz="2200"/>
            </a:pPr>
            <a:r>
              <a:rPr dirty="0"/>
              <a:t>Open folder PROJECT.</a:t>
            </a:r>
          </a:p>
          <a:p>
            <a:pPr>
              <a:defRPr sz="2200"/>
            </a:pP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2: Install Required Packages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Run pip install -r requirements.txt</a:t>
            </a:r>
          </a:p>
          <a:p>
            <a:pPr>
              <a:defRPr sz="2200"/>
            </a:pPr>
            <a:r>
              <a:t>Explain that dependencies are libraries our code needs.</a:t>
            </a:r>
          </a:p>
          <a:p>
            <a:pPr>
              <a:defRPr sz="2200"/>
            </a:pPr>
            <a:r>
              <a:t>If any error appears, read first red line and fix one issue at a time.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3: Run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Run python -m src.run_pipeline</a:t>
            </a:r>
          </a:p>
          <a:p>
            <a:pPr>
              <a:defRPr sz="2200"/>
            </a:pPr>
            <a:r>
              <a:t>This runs EDA, cleaning and merging, feature engineering, training, and SQL export.</a:t>
            </a:r>
          </a:p>
          <a:p>
            <a:pPr>
              <a:defRPr sz="2200"/>
            </a:pPr>
            <a:r>
              <a:t>Expected output includes model files and metrics report.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What Should Verify After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rPr dirty="0"/>
              <a:t>data/processed/rapido_processed.csv exists</a:t>
            </a:r>
          </a:p>
          <a:p>
            <a:pPr>
              <a:defRPr sz="2200"/>
            </a:pPr>
            <a:r>
              <a:rPr dirty="0"/>
              <a:t>artifacts/reports/</a:t>
            </a:r>
            <a:r>
              <a:rPr dirty="0" err="1"/>
              <a:t>eda</a:t>
            </a:r>
            <a:r>
              <a:rPr dirty="0"/>
              <a:t> contains EDA plots and summaries</a:t>
            </a:r>
          </a:p>
          <a:p>
            <a:pPr>
              <a:defRPr sz="2200"/>
            </a:pPr>
            <a:r>
              <a:rPr dirty="0"/>
              <a:t>artifacts/models contains 4 model files</a:t>
            </a:r>
          </a:p>
          <a:p>
            <a:pPr>
              <a:defRPr sz="2200"/>
            </a:pPr>
            <a:r>
              <a:rPr dirty="0"/>
              <a:t>artifacts/reports/</a:t>
            </a:r>
            <a:r>
              <a:rPr dirty="0" err="1"/>
              <a:t>metrics.json</a:t>
            </a:r>
            <a:r>
              <a:rPr dirty="0"/>
              <a:t> exists</a:t>
            </a:r>
          </a:p>
          <a:p>
            <a:pPr>
              <a:defRPr sz="2200"/>
            </a:pPr>
            <a:r>
              <a:rPr dirty="0" err="1"/>
              <a:t>sql</a:t>
            </a:r>
            <a:r>
              <a:rPr dirty="0"/>
              <a:t>/</a:t>
            </a:r>
            <a:r>
              <a:rPr dirty="0" err="1"/>
              <a:t>rapido.db</a:t>
            </a:r>
            <a:r>
              <a:rPr dirty="0"/>
              <a:t> exists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685610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rPr lang="en-US" dirty="0"/>
              <a:t>P</a:t>
            </a:r>
            <a:r>
              <a:rPr dirty="0"/>
              <a:t>reprocessing and feature engineering deeply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 Cleaning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rPr dirty="0"/>
              <a:t>Merged date and time into </a:t>
            </a:r>
            <a:r>
              <a:rPr dirty="0" err="1"/>
              <a:t>booking_datetime</a:t>
            </a:r>
            <a:r>
              <a:rPr dirty="0"/>
              <a:t>.</a:t>
            </a:r>
          </a:p>
          <a:p>
            <a:pPr>
              <a:defRPr sz="2200"/>
            </a:pPr>
            <a:r>
              <a:rPr dirty="0"/>
              <a:t>Filled missing actual ride time using estimated ride time.</a:t>
            </a:r>
          </a:p>
          <a:p>
            <a:pPr>
              <a:defRPr sz="2200"/>
            </a:pPr>
            <a:r>
              <a:rPr dirty="0"/>
              <a:t>Filled missing incomplete ride reason with None.</a:t>
            </a:r>
          </a:p>
          <a:p>
            <a:pPr>
              <a:defRPr sz="2200"/>
            </a:pPr>
            <a:r>
              <a:rPr dirty="0"/>
              <a:t>Merged all source tables using keys and time features.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EDA</a:t>
            </a:r>
            <a:r>
              <a:rPr lang="en-US" dirty="0"/>
              <a:t> : Exploratory Data Analysis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rPr dirty="0"/>
              <a:t>Runs on raw and cleaned data, before feature engineering.</a:t>
            </a:r>
          </a:p>
          <a:p>
            <a:pPr>
              <a:defRPr sz="2200"/>
            </a:pPr>
            <a:r>
              <a:rPr dirty="0"/>
              <a:t>Statistical summary: shape, nulls, describe, skewness, class balance.</a:t>
            </a:r>
          </a:p>
          <a:p>
            <a:pPr>
              <a:defRPr sz="2200"/>
            </a:pPr>
            <a:r>
              <a:rPr dirty="0"/>
              <a:t>Plots: histogram, box, bar/pie, scatter, correlation heatmap, pair plot.</a:t>
            </a:r>
          </a:p>
          <a:p>
            <a:pPr>
              <a:defRPr sz="2200"/>
            </a:pPr>
            <a:r>
              <a:rPr dirty="0"/>
              <a:t>What we saw here justified the engineered features we built.</a:t>
            </a:r>
          </a:p>
          <a:p>
            <a:pPr>
              <a:defRPr sz="2200"/>
            </a:pPr>
            <a:r>
              <a:rPr dirty="0"/>
              <a:t>Saved under artifacts/reports/</a:t>
            </a:r>
            <a:r>
              <a:rPr dirty="0" err="1"/>
              <a:t>eda</a:t>
            </a:r>
            <a:r>
              <a:rPr dirty="0"/>
              <a:t> (</a:t>
            </a:r>
            <a:r>
              <a:rPr dirty="0" err="1"/>
              <a:t>before_cleaning</a:t>
            </a:r>
            <a:r>
              <a:rPr dirty="0"/>
              <a:t> and </a:t>
            </a:r>
            <a:r>
              <a:rPr dirty="0" err="1"/>
              <a:t>after_cleaning</a:t>
            </a:r>
            <a:r>
              <a:rPr dirty="0"/>
              <a:t>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Feature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rPr dirty="0" err="1"/>
              <a:t>fare_per_km</a:t>
            </a:r>
            <a:r>
              <a:rPr dirty="0"/>
              <a:t> helps compare cost efficiency across rides.</a:t>
            </a:r>
          </a:p>
          <a:p>
            <a:pPr>
              <a:defRPr sz="2200"/>
            </a:pPr>
            <a:r>
              <a:rPr dirty="0" err="1"/>
              <a:t>fare_per_min</a:t>
            </a:r>
            <a:r>
              <a:rPr dirty="0"/>
              <a:t> captures speed and traffic pressure.</a:t>
            </a:r>
          </a:p>
          <a:p>
            <a:pPr>
              <a:defRPr sz="2200"/>
            </a:pPr>
            <a:r>
              <a:rPr dirty="0" err="1"/>
              <a:t>rush_hour_flag</a:t>
            </a:r>
            <a:r>
              <a:rPr dirty="0"/>
              <a:t> marks high-congestion hours.</a:t>
            </a:r>
          </a:p>
          <a:p>
            <a:pPr>
              <a:defRPr sz="2200"/>
            </a:pPr>
            <a:r>
              <a:rPr dirty="0" err="1"/>
              <a:t>long_distance_flag</a:t>
            </a:r>
            <a:r>
              <a:rPr dirty="0"/>
              <a:t> helps distinguish trip types.</a:t>
            </a:r>
          </a:p>
          <a:p>
            <a:pPr>
              <a:defRPr sz="2200"/>
            </a:pPr>
            <a:r>
              <a:rPr dirty="0" err="1"/>
              <a:t>city_pair</a:t>
            </a:r>
            <a:r>
              <a:rPr dirty="0"/>
              <a:t> captures route-level behavior.</a:t>
            </a:r>
          </a:p>
          <a:p>
            <a:pPr>
              <a:defRPr sz="2200"/>
            </a:pPr>
            <a:r>
              <a:rPr dirty="0" err="1"/>
              <a:t>driver_reliability_score</a:t>
            </a:r>
            <a:r>
              <a:rPr dirty="0"/>
              <a:t> and </a:t>
            </a:r>
            <a:r>
              <a:rPr dirty="0" err="1"/>
              <a:t>customer_loyalty_score</a:t>
            </a:r>
            <a:r>
              <a:rPr dirty="0"/>
              <a:t> summarize patterns.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t>Model training and evaluation interpretation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Modeling Pipeline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Split data into train and test sets.</a:t>
            </a:r>
          </a:p>
          <a:p>
            <a:pPr>
              <a:defRPr sz="2200"/>
            </a:pPr>
            <a:r>
              <a:t>Numeric columns: median imputation.</a:t>
            </a:r>
          </a:p>
          <a:p>
            <a:pPr>
              <a:defRPr sz="2200"/>
            </a:pPr>
            <a:r>
              <a:t>Categorical columns: most frequent imputation + one hot encoding.</a:t>
            </a:r>
          </a:p>
          <a:p>
            <a:pPr>
              <a:defRPr sz="2200"/>
            </a:pPr>
            <a:r>
              <a:t>Train Random Forest models for baseline performance.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Explain Classification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rPr dirty="0"/>
              <a:t>Accuracy: overall correct predictions percentage.</a:t>
            </a:r>
          </a:p>
          <a:p>
            <a:pPr>
              <a:defRPr sz="2200"/>
            </a:pPr>
            <a:r>
              <a:rPr dirty="0"/>
              <a:t>F1 score: balance between precision and recall.</a:t>
            </a:r>
          </a:p>
          <a:p>
            <a:pPr>
              <a:defRPr sz="2200"/>
            </a:pPr>
            <a:r>
              <a:rPr dirty="0"/>
              <a:t>AUC: ranking quality of risk probabilities.</a:t>
            </a:r>
          </a:p>
          <a:p>
            <a:pPr>
              <a:defRPr sz="2200"/>
            </a:pPr>
            <a:r>
              <a:rPr dirty="0"/>
              <a:t>Confusion matrix: where model confuses classes.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Explain Regression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rPr dirty="0"/>
              <a:t>MAE: average absolute error in fare units.</a:t>
            </a:r>
          </a:p>
          <a:p>
            <a:pPr>
              <a:defRPr sz="2200"/>
            </a:pPr>
            <a:r>
              <a:rPr dirty="0"/>
              <a:t>RMSE: gives higher penalty to big errors.</a:t>
            </a:r>
          </a:p>
          <a:p>
            <a:pPr>
              <a:defRPr sz="2200"/>
            </a:pPr>
            <a:r>
              <a:rPr dirty="0"/>
              <a:t>R2: how much variance model explains.</a:t>
            </a:r>
          </a:p>
          <a:p>
            <a:pPr>
              <a:defRPr sz="2200"/>
            </a:pPr>
            <a:r>
              <a:rPr dirty="0"/>
              <a:t>Also compare prediction error percentage against actual fare.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35926"/>
            <a:ext cx="100584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rPr dirty="0"/>
              <a:t>Visualization, dashboard, and stakeholder communication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4: Run Streamlit App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Run streamlit run app.py</a:t>
            </a:r>
          </a:p>
          <a:p>
            <a:pPr>
              <a:defRPr sz="2200"/>
            </a:pPr>
            <a:r>
              <a:t>Tab 1: Business KPIs and cancellation-by-hour trend.</a:t>
            </a:r>
          </a:p>
          <a:p>
            <a:pPr>
              <a:defRPr sz="2200"/>
            </a:pPr>
            <a:r>
              <a:t>Tab 2: Single booking prediction for live demo.</a:t>
            </a:r>
          </a:p>
          <a:p>
            <a:pPr>
              <a:defRPr sz="2200"/>
            </a:pPr>
            <a:r>
              <a:t>Tab 3: Batch CSV prediction and download output.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Operational Interventions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rPr dirty="0"/>
              <a:t>High customer cancellation risk: send ETA transparency or incentive.</a:t>
            </a:r>
          </a:p>
          <a:p>
            <a:pPr>
              <a:defRPr sz="2200"/>
            </a:pPr>
            <a:r>
              <a:rPr dirty="0"/>
              <a:t>High driver delay risk: allocate backup driver early.</a:t>
            </a:r>
          </a:p>
          <a:p>
            <a:pPr>
              <a:defRPr sz="2200"/>
            </a:pPr>
            <a:r>
              <a:rPr dirty="0"/>
              <a:t>High demand window: apply surge and pre-position drivers.</a:t>
            </a:r>
          </a:p>
          <a:p>
            <a:pPr>
              <a:defRPr sz="2200"/>
            </a:pPr>
            <a:r>
              <a:rPr dirty="0"/>
              <a:t>Low reliability route pair: monitor and improve matching strategy.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798</Words>
  <Application>Microsoft Office PowerPoint</Application>
  <PresentationFormat>On-screen Show (4:3)</PresentationFormat>
  <Paragraphs>97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Rapido Project Teaching Deck</vt:lpstr>
      <vt:lpstr>Project</vt:lpstr>
      <vt:lpstr>Problems We Are Solving</vt:lpstr>
      <vt:lpstr>4 ML Models In This Project</vt:lpstr>
      <vt:lpstr>Part 2</vt:lpstr>
      <vt:lpstr>Dataset Files And Purpose</vt:lpstr>
      <vt:lpstr>Important Columns</vt:lpstr>
      <vt:lpstr>Part 3</vt:lpstr>
      <vt:lpstr>Step 1: Open The Project</vt:lpstr>
      <vt:lpstr>Step 2: Install Required Packages</vt:lpstr>
      <vt:lpstr>Step 3: Run Full Pipeline</vt:lpstr>
      <vt:lpstr>What Should Verify After Pipeline</vt:lpstr>
      <vt:lpstr>Part 4</vt:lpstr>
      <vt:lpstr>Data Cleaning</vt:lpstr>
      <vt:lpstr>EDA : Exploratory Data Analysis</vt:lpstr>
      <vt:lpstr>Feature Engineering</vt:lpstr>
      <vt:lpstr>Part 5</vt:lpstr>
      <vt:lpstr>Modeling Pipeline Architecture</vt:lpstr>
      <vt:lpstr>Explain Classification Metrics</vt:lpstr>
      <vt:lpstr>Explain Regression Metrics</vt:lpstr>
      <vt:lpstr>Part 6</vt:lpstr>
      <vt:lpstr>Step 4: Run Streamlit App</vt:lpstr>
      <vt:lpstr>Operational Interventions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Pavuluri, Meenakshi</cp:lastModifiedBy>
  <cp:revision>14</cp:revision>
  <dcterms:created xsi:type="dcterms:W3CDTF">2013-01-27T09:14:16Z</dcterms:created>
  <dcterms:modified xsi:type="dcterms:W3CDTF">2026-10-02T16:17:39Z</dcterms:modified>
  <cp:category/>
</cp:coreProperties>
</file>