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09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Rapido Project Teaching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Intelligent Mobility Insights: Ride Patterns, Cancellations, Fare Forecasting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Use This Deck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This deck assumes students are complete beginners.</a:t>
            </a:r>
          </a:p>
          <a:p>
            <a:pPr>
              <a:defRPr sz="2200"/>
            </a:pPr>
            <a:r>
              <a:t>Teach one slide, then run the exact action in VS Code or terminal.</a:t>
            </a:r>
          </a:p>
          <a:p>
            <a:pPr>
              <a:defRPr sz="2200"/>
            </a:pPr>
            <a:r>
              <a:t>Pause after every major step and ask students to verify output.</a:t>
            </a:r>
          </a:p>
          <a:p>
            <a:pPr>
              <a:defRPr sz="2200"/>
            </a:pPr>
            <a:r>
              <a:t>Main goal: students should understand both why and how.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Understand the problem in simple business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Rapido gets many bookings every day.</a:t>
            </a:r>
          </a:p>
          <a:p>
            <a:pPr>
              <a:defRPr sz="2200"/>
            </a:pPr>
            <a:r>
              <a:rPr dirty="0"/>
              <a:t>Some rides get cancelled, some are delayed, and fares are hard to predict.</a:t>
            </a:r>
          </a:p>
          <a:p>
            <a:pPr>
              <a:defRPr sz="2200"/>
            </a:pPr>
            <a:r>
              <a:rPr dirty="0"/>
              <a:t>If we predict these early, operations can take action before problems happen.</a:t>
            </a:r>
          </a:p>
          <a:p>
            <a:pPr>
              <a:defRPr sz="2200"/>
            </a:pPr>
            <a:r>
              <a:rPr dirty="0"/>
              <a:t>Machine learning helps us convert past trip data into predictions.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Questions We Are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Will this booking be completed, cancelled, or incomplete?</a:t>
            </a:r>
          </a:p>
          <a:p>
            <a:pPr>
              <a:defRPr sz="2200"/>
            </a:pPr>
            <a:r>
              <a:t>What fare should we expect before ride starts?</a:t>
            </a:r>
          </a:p>
          <a:p>
            <a:pPr>
              <a:defRPr sz="2200"/>
            </a:pPr>
            <a:r>
              <a:t>Is this customer likely to cancel?</a:t>
            </a:r>
          </a:p>
          <a:p>
            <a:pPr>
              <a:defRPr sz="2200"/>
            </a:pPr>
            <a:r>
              <a:t>Is this driver likely to cause delay or incomplete trip?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 ML Models In This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Model 1: Ride outcome prediction (multi-class classification)</a:t>
            </a:r>
          </a:p>
          <a:p>
            <a:pPr>
              <a:defRPr sz="2200"/>
            </a:pPr>
            <a:r>
              <a:t>Model 2: Fare prediction (regression)</a:t>
            </a:r>
          </a:p>
          <a:p>
            <a:pPr>
              <a:defRPr sz="2200"/>
            </a:pPr>
            <a:r>
              <a:t>Model 3: Customer cancellation risk (binary classification)</a:t>
            </a:r>
          </a:p>
          <a:p>
            <a:pPr>
              <a:defRPr sz="2200"/>
            </a:pPr>
            <a:r>
              <a:t>Model 4: Driver delay risk (binary classification)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Know your data before touching machine learning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Files And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bookings: core ride transactions and booking status</a:t>
            </a:r>
          </a:p>
          <a:p>
            <a:pPr>
              <a:defRPr sz="2200"/>
            </a:pPr>
            <a:r>
              <a:t>customers: customer profile and cancellation behavior</a:t>
            </a:r>
          </a:p>
          <a:p>
            <a:pPr>
              <a:defRPr sz="2200"/>
            </a:pPr>
            <a:r>
              <a:t>drivers: driver performance and delay history</a:t>
            </a:r>
          </a:p>
          <a:p>
            <a:pPr>
              <a:defRPr sz="2200"/>
            </a:pPr>
            <a:r>
              <a:t>location_demand: demand patterns by place and hour</a:t>
            </a:r>
          </a:p>
          <a:p>
            <a:pPr>
              <a:defRPr sz="2200"/>
            </a:pPr>
            <a:r>
              <a:t>time_features: day, weekend, season and peak indicators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Important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booking_status</a:t>
            </a:r>
            <a:r>
              <a:rPr dirty="0"/>
              <a:t> is the main ride outcome label.</a:t>
            </a:r>
          </a:p>
          <a:p>
            <a:pPr>
              <a:defRPr sz="2200"/>
            </a:pPr>
            <a:r>
              <a:rPr dirty="0" err="1"/>
              <a:t>booking_value</a:t>
            </a:r>
            <a:r>
              <a:rPr dirty="0"/>
              <a:t> is the fare amount we predict in regression.</a:t>
            </a:r>
          </a:p>
          <a:p>
            <a:pPr>
              <a:defRPr sz="2200"/>
            </a:pPr>
            <a:r>
              <a:rPr dirty="0" err="1"/>
              <a:t>hour_of_day</a:t>
            </a:r>
            <a:r>
              <a:rPr dirty="0"/>
              <a:t>, </a:t>
            </a:r>
            <a:r>
              <a:rPr dirty="0" err="1"/>
              <a:t>traffic_level</a:t>
            </a:r>
            <a:r>
              <a:rPr dirty="0"/>
              <a:t>, </a:t>
            </a:r>
            <a:r>
              <a:rPr dirty="0" err="1"/>
              <a:t>weather_condition</a:t>
            </a:r>
            <a:r>
              <a:rPr dirty="0"/>
              <a:t> influence demand and cancellation.</a:t>
            </a:r>
          </a:p>
          <a:p>
            <a:pPr>
              <a:defRPr sz="2200"/>
            </a:pPr>
            <a:r>
              <a:rPr dirty="0" err="1"/>
              <a:t>customer_cancel_flag</a:t>
            </a:r>
            <a:r>
              <a:rPr dirty="0"/>
              <a:t> and </a:t>
            </a:r>
            <a:r>
              <a:rPr dirty="0" err="1"/>
              <a:t>driver_delay_flag</a:t>
            </a:r>
            <a:r>
              <a:rPr dirty="0"/>
              <a:t> are risk labels.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Checklist Before Coding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Can they identify target columns for each use case?</a:t>
            </a:r>
          </a:p>
          <a:p>
            <a:pPr>
              <a:defRPr sz="2200"/>
            </a:pPr>
            <a:r>
              <a:rPr dirty="0"/>
              <a:t>Can they explain one row from each CSV in plain language?</a:t>
            </a:r>
          </a:p>
          <a:p>
            <a:pPr>
              <a:defRPr sz="2200"/>
            </a:pPr>
            <a:r>
              <a:rPr dirty="0"/>
              <a:t>Can they list which file connects by </a:t>
            </a:r>
            <a:r>
              <a:rPr dirty="0" err="1"/>
              <a:t>customer_id</a:t>
            </a:r>
            <a:r>
              <a:rPr dirty="0"/>
              <a:t> and </a:t>
            </a:r>
            <a:r>
              <a:rPr dirty="0" err="1"/>
              <a:t>driver_id</a:t>
            </a:r>
            <a:r>
              <a:rPr dirty="0"/>
              <a:t>?</a:t>
            </a:r>
          </a:p>
          <a:p>
            <a:pPr>
              <a:defRPr sz="2200"/>
            </a:pPr>
            <a:r>
              <a:rPr dirty="0"/>
              <a:t>Do they understand that clean data comes before model training?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Environment setup and project execution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1: Open The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VS Code.</a:t>
            </a:r>
          </a:p>
          <a:p>
            <a:pPr>
              <a:defRPr sz="2200"/>
            </a:pPr>
            <a:r>
              <a:t>Open folder PROJECT3.</a:t>
            </a:r>
          </a:p>
          <a:p>
            <a:pPr>
              <a:defRPr sz="2200"/>
            </a:pPr>
            <a:r>
              <a:t>Check folder contains Project-files, src, artifacts, data, sql.</a:t>
            </a:r>
          </a:p>
          <a:p>
            <a:pPr>
              <a:defRPr sz="2200"/>
            </a:pPr>
            <a:r>
              <a:t>Explain to students why structured folders improve teamwork.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2: Install Required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pip install -r requirements.txt</a:t>
            </a:r>
          </a:p>
          <a:p>
            <a:pPr>
              <a:defRPr sz="2200"/>
            </a:pPr>
            <a:r>
              <a:t>Explain that dependencies are libraries our code needs.</a:t>
            </a:r>
          </a:p>
          <a:p>
            <a:pPr>
              <a:defRPr sz="2200"/>
            </a:pPr>
            <a:r>
              <a:t>If any error appears, read first red line and fix one issue at a time.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Run Full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python -m src.run_pipeline</a:t>
            </a:r>
          </a:p>
          <a:p>
            <a:pPr>
              <a:defRPr sz="2200"/>
            </a:pPr>
            <a:r>
              <a:t>This runs cleaning, feature engineering, training, and SQL export.</a:t>
            </a:r>
          </a:p>
          <a:p>
            <a:pPr>
              <a:defRPr sz="2200"/>
            </a:pPr>
            <a:r>
              <a:t>Expected output includes model files and metrics report.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What</a:t>
            </a:r>
            <a:r>
              <a:rPr lang="en-US" dirty="0"/>
              <a:t> </a:t>
            </a:r>
            <a:r>
              <a:rPr dirty="0"/>
              <a:t>Should Verify After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data/processed/rapido_processed.csv exists</a:t>
            </a:r>
          </a:p>
          <a:p>
            <a:pPr>
              <a:defRPr sz="2200"/>
            </a:pPr>
            <a:r>
              <a:rPr dirty="0"/>
              <a:t>artifacts/models contains 4 model files</a:t>
            </a:r>
          </a:p>
          <a:p>
            <a:pPr>
              <a:defRPr sz="2200"/>
            </a:pPr>
            <a:r>
              <a:rPr dirty="0"/>
              <a:t>artifacts/reports/</a:t>
            </a:r>
            <a:r>
              <a:rPr dirty="0" err="1"/>
              <a:t>metrics.json</a:t>
            </a:r>
            <a:r>
              <a:rPr dirty="0"/>
              <a:t> exists</a:t>
            </a:r>
          </a:p>
          <a:p>
            <a:pPr>
              <a:defRPr sz="2200"/>
            </a:pPr>
            <a:r>
              <a:rPr dirty="0" err="1"/>
              <a:t>sql</a:t>
            </a:r>
            <a:r>
              <a:rPr dirty="0"/>
              <a:t>/</a:t>
            </a:r>
            <a:r>
              <a:rPr dirty="0" err="1"/>
              <a:t>rapido.db</a:t>
            </a:r>
            <a:r>
              <a:rPr dirty="0"/>
              <a:t> exists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Teach preprocessing and feature engineering deeply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Cleaning: What We Did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Merged date and time into booking_datetime.</a:t>
            </a:r>
          </a:p>
          <a:p>
            <a:pPr>
              <a:defRPr sz="2200"/>
            </a:pPr>
            <a:r>
              <a:t>Filled missing actual ride time using estimated ride time.</a:t>
            </a:r>
          </a:p>
          <a:p>
            <a:pPr>
              <a:defRPr sz="2200"/>
            </a:pPr>
            <a:r>
              <a:t>Filled missing incomplete ride reason with None.</a:t>
            </a:r>
          </a:p>
          <a:p>
            <a:pPr>
              <a:defRPr sz="2200"/>
            </a:pPr>
            <a:r>
              <a:t>Merged all source tables using keys and time features.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Engineering: 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fare_per_km helps compare cost efficiency across rides.</a:t>
            </a:r>
          </a:p>
          <a:p>
            <a:pPr>
              <a:defRPr sz="2200"/>
            </a:pPr>
            <a:r>
              <a:t>fare_per_min captures speed and traffic pressure.</a:t>
            </a:r>
          </a:p>
          <a:p>
            <a:pPr>
              <a:defRPr sz="2200"/>
            </a:pPr>
            <a:r>
              <a:t>rush_hour_flag marks high-congestion hours.</a:t>
            </a:r>
          </a:p>
          <a:p>
            <a:pPr>
              <a:defRPr sz="2200"/>
            </a:pPr>
            <a:r>
              <a:t>long_distance_flag helps distinguish trip types.</a:t>
            </a:r>
          </a:p>
          <a:p>
            <a:pPr>
              <a:defRPr sz="2200"/>
            </a:pPr>
            <a:r>
              <a:t>city_pair captures route-level behavior.</a:t>
            </a:r>
          </a:p>
          <a:p>
            <a:pPr>
              <a:defRPr sz="2200"/>
            </a:pPr>
            <a:r>
              <a:t>driver_reliability_score and customer_loyalty_score summarize patterns.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Leakage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Leakage means model sees future or answer-like information.</a:t>
            </a:r>
          </a:p>
          <a:p>
            <a:pPr>
              <a:defRPr sz="2200"/>
            </a:pPr>
            <a:r>
              <a:rPr dirty="0"/>
              <a:t>If leakage exists, scores look very high but fail in real life.</a:t>
            </a:r>
          </a:p>
          <a:p>
            <a:pPr>
              <a:defRPr sz="2200"/>
            </a:pPr>
            <a:r>
              <a:rPr dirty="0"/>
              <a:t>Tell students: realistic model is better than perfect fake score.</a:t>
            </a:r>
          </a:p>
          <a:p>
            <a:pPr>
              <a:defRPr sz="2200"/>
            </a:pPr>
            <a:r>
              <a:rPr dirty="0"/>
              <a:t>Always remove direct target proxies before final evaluation.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Model training and evaluation interpretation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Split data into train and test sets.</a:t>
            </a:r>
          </a:p>
          <a:p>
            <a:pPr>
              <a:defRPr sz="2200"/>
            </a:pPr>
            <a:r>
              <a:t>Numeric columns: median imputation.</a:t>
            </a:r>
          </a:p>
          <a:p>
            <a:pPr>
              <a:defRPr sz="2200"/>
            </a:pPr>
            <a:r>
              <a:t>Categorical columns: most frequent imputation + one hot encoding.</a:t>
            </a:r>
          </a:p>
          <a:p>
            <a:pPr>
              <a:defRPr sz="2200"/>
            </a:pPr>
            <a:r>
              <a:t>Train Random Forest models for baseline performance.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Explain Classification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Accuracy: overall correct predictions percentage.</a:t>
            </a:r>
          </a:p>
          <a:p>
            <a:pPr>
              <a:defRPr sz="2200"/>
            </a:pPr>
            <a:r>
              <a:t>F1 score: balance between precision and recall.</a:t>
            </a:r>
          </a:p>
          <a:p>
            <a:pPr>
              <a:defRPr sz="2200"/>
            </a:pPr>
            <a:r>
              <a:t>AUC: ranking quality of risk probabilities.</a:t>
            </a:r>
          </a:p>
          <a:p>
            <a:pPr>
              <a:defRPr sz="2200"/>
            </a:pPr>
            <a:r>
              <a:t>Confusion matrix: where model confuses classes.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Explain Regression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MAE: average absolute error in fare units.</a:t>
            </a:r>
          </a:p>
          <a:p>
            <a:pPr>
              <a:defRPr sz="2200"/>
            </a:pPr>
            <a:r>
              <a:t>RMSE: gives higher penalty to big errors.</a:t>
            </a:r>
          </a:p>
          <a:p>
            <a:pPr>
              <a:defRPr sz="2200"/>
            </a:pPr>
            <a:r>
              <a:t>R2: how much variance model explains.</a:t>
            </a:r>
          </a:p>
          <a:p>
            <a:pPr>
              <a:defRPr sz="2200"/>
            </a:pPr>
            <a:r>
              <a:t>Also compare prediction error percentage against actual fare.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Classroom Exercise: Read metrics.json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 metrics file after training.</a:t>
            </a:r>
          </a:p>
          <a:p>
            <a:pPr>
              <a:defRPr sz="2200"/>
            </a:pPr>
            <a:r>
              <a:t>Ask students to identify best and weakest model.</a:t>
            </a:r>
          </a:p>
          <a:p>
            <a:pPr>
              <a:defRPr sz="2200"/>
            </a:pPr>
            <a:r>
              <a:t>Ask what business action each metric supports.</a:t>
            </a:r>
          </a:p>
          <a:p>
            <a:pPr>
              <a:defRPr sz="2200"/>
            </a:pPr>
            <a:r>
              <a:t>Discuss why extremely high metrics should be questioned.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7772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/>
            </a:pPr>
            <a:r>
              <a:rPr dirty="0"/>
              <a:t>Visualization, dashboard, and stakeholder communication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4: Run 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Run streamlit run app.py</a:t>
            </a:r>
          </a:p>
          <a:p>
            <a:pPr>
              <a:defRPr sz="2200"/>
            </a:pPr>
            <a:r>
              <a:t>Tab 1: Business KPIs and cancellation-by-hour trend.</a:t>
            </a:r>
          </a:p>
          <a:p>
            <a:pPr>
              <a:defRPr sz="2200"/>
            </a:pPr>
            <a:r>
              <a:t>Tab 2: Single booking prediction for live demo.</a:t>
            </a:r>
          </a:p>
          <a:p>
            <a:pPr>
              <a:defRPr sz="2200"/>
            </a:pPr>
            <a:r>
              <a:t>Tab 3: Batch CSV prediction and download output.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How To Present Insights To Non-Technical Audience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with business problem, not algorithm name.</a:t>
            </a:r>
          </a:p>
          <a:p>
            <a:pPr>
              <a:defRPr sz="2200"/>
            </a:pPr>
            <a:r>
              <a:t>Use before and after story: what action this model enables.</a:t>
            </a:r>
          </a:p>
          <a:p>
            <a:pPr>
              <a:defRPr sz="2200"/>
            </a:pPr>
            <a:r>
              <a:t>Show one chart, one risk score, one recommended action.</a:t>
            </a:r>
          </a:p>
          <a:p>
            <a:pPr>
              <a:defRPr sz="2200"/>
            </a:pPr>
            <a:r>
              <a:t>End with measurable impact target (for example 20 percent cancellation reduction).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Operational Interventions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High customer cancellation risk: send ETA transparency or incentive.</a:t>
            </a:r>
          </a:p>
          <a:p>
            <a:pPr>
              <a:defRPr sz="2200"/>
            </a:pPr>
            <a:r>
              <a:rPr dirty="0"/>
              <a:t>High driver delay risk: allocate backup driver early.</a:t>
            </a:r>
          </a:p>
          <a:p>
            <a:pPr>
              <a:defRPr sz="2200"/>
            </a:pPr>
            <a:r>
              <a:rPr dirty="0"/>
              <a:t>High demand window: apply surge and pre-position drivers.</a:t>
            </a:r>
          </a:p>
          <a:p>
            <a:pPr>
              <a:defRPr sz="2200"/>
            </a:pPr>
            <a:r>
              <a:rPr dirty="0"/>
              <a:t>Low reliability route pair: monitor and improve matching strategy.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Project submission and student evaluation readiness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Submission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Code runs end to end without manual edits.</a:t>
            </a:r>
          </a:p>
          <a:p>
            <a:pPr>
              <a:defRPr sz="2200"/>
            </a:pPr>
            <a:r>
              <a:t>README explains setup and run commands clearly.</a:t>
            </a:r>
          </a:p>
          <a:p>
            <a:pPr>
              <a:defRPr sz="2200"/>
            </a:pPr>
            <a:r>
              <a:t>Metrics and charts are included in final report.</a:t>
            </a:r>
          </a:p>
          <a:p>
            <a:pPr>
              <a:defRPr sz="2200"/>
            </a:pPr>
            <a:r>
              <a:t>Students can explain one business decision per model.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Student Errors And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Error: module not found. Fix: install requirements in active environment.</a:t>
            </a:r>
          </a:p>
          <a:p>
            <a:pPr>
              <a:defRPr sz="2200"/>
            </a:pPr>
            <a:r>
              <a:t>Error: file path issue. Fix: run commands from project root folder.</a:t>
            </a:r>
          </a:p>
          <a:p>
            <a:pPr>
              <a:defRPr sz="2200"/>
            </a:pPr>
            <a:r>
              <a:t>Error: unrealistic perfect scores. Fix: review leakage-prone features.</a:t>
            </a:r>
          </a:p>
          <a:p>
            <a:pPr>
              <a:defRPr sz="2200"/>
            </a:pPr>
            <a:r>
              <a:t>Error: presentation confusion. Fix: explain use case first, metric later.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Suggested 2-Hour Teaching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0-20 min: Business context and use cases</a:t>
            </a:r>
          </a:p>
          <a:p>
            <a:pPr>
              <a:defRPr sz="2200"/>
            </a:pPr>
            <a:r>
              <a:t>20-50 min: Data files and preprocessing walkthrough</a:t>
            </a:r>
          </a:p>
          <a:p>
            <a:pPr>
              <a:defRPr sz="2200"/>
            </a:pPr>
            <a:r>
              <a:t>50-90 min: Training pipeline and metric interpretation</a:t>
            </a:r>
          </a:p>
          <a:p>
            <a:pPr>
              <a:defRPr sz="2200"/>
            </a:pPr>
            <a:r>
              <a:t>90-120 min: Streamlit demo and Q and 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Students should now be able to run, explain, and present the project.</a:t>
            </a:r>
          </a:p>
          <a:p>
            <a:pPr>
              <a:defRPr sz="2200"/>
            </a:pPr>
            <a:r>
              <a:t>Next class task: remove leakage and compare realistic model metrics.</a:t>
            </a:r>
          </a:p>
          <a:p>
            <a:pPr>
              <a:defRPr sz="2200"/>
            </a:pPr>
            <a:r>
              <a:t>Optional extension: build FastAPI endpoint for live prediction.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1189</Words>
  <Application>Microsoft Office PowerPoint</Application>
  <PresentationFormat>On-screen Show (4:3)</PresentationFormat>
  <Paragraphs>141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Office Theme</vt:lpstr>
      <vt:lpstr>Rapido Project Teaching Deck</vt:lpstr>
      <vt:lpstr>How To Use This Deck</vt:lpstr>
      <vt:lpstr>Part 1</vt:lpstr>
      <vt:lpstr>Project Story</vt:lpstr>
      <vt:lpstr>Business Questions We Are Solving</vt:lpstr>
      <vt:lpstr>4 ML Models In This Project</vt:lpstr>
      <vt:lpstr>Part 2</vt:lpstr>
      <vt:lpstr>Dataset Files And Purpose</vt:lpstr>
      <vt:lpstr>Important Columns</vt:lpstr>
      <vt:lpstr>Checklist Before Coding</vt:lpstr>
      <vt:lpstr>Part 3</vt:lpstr>
      <vt:lpstr>Step 1: Open The Project</vt:lpstr>
      <vt:lpstr>Step 2: Install Required Packages</vt:lpstr>
      <vt:lpstr>Step 3: Run Full Pipeline</vt:lpstr>
      <vt:lpstr>What Should Verify After Pipeline</vt:lpstr>
      <vt:lpstr>Part 4</vt:lpstr>
      <vt:lpstr>Data Cleaning: What We Did</vt:lpstr>
      <vt:lpstr>Feature Engineering: Why It Matters</vt:lpstr>
      <vt:lpstr>Leakage</vt:lpstr>
      <vt:lpstr>Part 5</vt:lpstr>
      <vt:lpstr>Modeling Pipeline Architecture</vt:lpstr>
      <vt:lpstr>How To Explain Classification Metrics</vt:lpstr>
      <vt:lpstr>How To Explain Regression Metrics</vt:lpstr>
      <vt:lpstr>Classroom Exercise: Read metrics.json</vt:lpstr>
      <vt:lpstr>Part 6</vt:lpstr>
      <vt:lpstr>Step 4: Run Streamlit App</vt:lpstr>
      <vt:lpstr>How To Present Insights To Non-Technical Audience</vt:lpstr>
      <vt:lpstr>Operational Interventions Examples</vt:lpstr>
      <vt:lpstr>Part 7</vt:lpstr>
      <vt:lpstr>Final Submission Checklist</vt:lpstr>
      <vt:lpstr>Common Student Errors And Fixes</vt:lpstr>
      <vt:lpstr>Suggested 2-Hour Teaching Plan</vt:lpstr>
      <vt:lpstr>Thank You Slide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Goduguluru, Mahendra</cp:lastModifiedBy>
  <cp:revision>5</cp:revision>
  <dcterms:created xsi:type="dcterms:W3CDTF">2013-01-27T09:14:16Z</dcterms:created>
  <dcterms:modified xsi:type="dcterms:W3CDTF">2026-08-07T17:56:38Z</dcterms:modified>
  <cp:category/>
</cp:coreProperties>
</file>